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4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84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3194" r="13194"/>
          <a:stretch>
            <a:fillRect/>
          </a:stretch>
        </p:blipFill>
        <p:spPr>
          <a:xfrm>
            <a:off x="5461000" y="0"/>
            <a:ext cx="6731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461000" y="0"/>
            <a:ext cx="6731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D1B2A">
                  <a:alpha val="100000"/>
                </a:srgbClr>
              </a:gs>
              <a:gs pos="45000">
                <a:srgbClr val="0D1B2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092200"/>
            <a:ext cx="4572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6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器见千年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9635">
            <a:off x="812827" y="2584450"/>
            <a:ext cx="147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812800" y="2895600"/>
            <a:ext cx="44450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 AI 三维重建与时空交互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22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的文物智能学习平台</a:t>
            </a:r>
            <a:endParaRPr lang="en-US" sz="2200" b="0" i="0" u="none" strike="noStrike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" y="42672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0" i="0" u="none" strike="noStrike">
                <a:solidFill>
                  <a:srgbClr val="DAE1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让文物从“只能看”，变成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700" b="0" i="0" u="none" strike="noStrike">
                <a:solidFill>
                  <a:srgbClr val="DAE1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“可以观察、比较和理解”。</a:t>
            </a:r>
            <a:endParaRPr lang="en-US" sz="1700" b="0" i="0" u="none" strike="noStrike">
              <a:solidFill>
                <a:srgbClr val="DAE1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第一部分 · 为什么做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我们发现：文物“看得到”，却“不容易看懂”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41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09600" y="1752600"/>
            <a:ext cx="91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752600" y="1752600"/>
            <a:ext cx="990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图片只能看到一个角度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752600" y="2235200"/>
            <a:ext cx="990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文物是立体的，传统展示大多停留在“图片 + 文字”，用户很难观察完整形态和细节。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609600" y="3048000"/>
            <a:ext cx="91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752600" y="3048000"/>
            <a:ext cx="990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知道年代，却看不出变化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1752600" y="3530600"/>
            <a:ext cx="990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用户知道唐代、宋代、元代、明代，却很难直观看到器物到底发生了什么变化。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609600" y="4343400"/>
            <a:ext cx="91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1752600" y="4343400"/>
            <a:ext cx="990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资料很多，却不容易形成理解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752600" y="4826000"/>
            <a:ext cx="990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看文物、查资料、做比较，往往是分开的，很难连成完整的认识。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3978">
            <a:off x="609604" y="5632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/>
          <p:cNvSpPr/>
          <p:nvPr/>
        </p:nvSpPr>
        <p:spPr>
          <a:xfrm>
            <a:off x="609600" y="57912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我们想解决的，不是“如何把文物放到网上”，而是“如何让用户真正看懂文物”。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3978">
            <a:off x="609604" y="63817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09600" y="6502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第一部分 · 为什么做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我们的想法：把“看文物”变成一个完整的学习过程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143000" y="1854200"/>
            <a:ext cx="1905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看</a:t>
            </a:r>
            <a:endParaRPr lang="en-US" sz="1100"/>
          </a:p>
        </p:txBody>
      </p:sp>
      <p:cxnSp>
        <p:nvCxnSpPr>
          <p:cNvPr id="6" name="Connector 6"/>
          <p:cNvCxnSpPr/>
          <p:nvPr>
            <p:custDataLst>
              <p:tags r:id="rId2"/>
            </p:custDataLst>
          </p:nvPr>
        </p:nvCxnSpPr>
        <p:spPr>
          <a:xfrm rot="-78117">
            <a:off x="3149672" y="2254250"/>
            <a:ext cx="55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810000" y="1854200"/>
            <a:ext cx="1905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比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4"/>
            </p:custDataLst>
          </p:nvPr>
        </p:nvCxnSpPr>
        <p:spPr>
          <a:xfrm rot="-78117">
            <a:off x="5816672" y="2254250"/>
            <a:ext cx="55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477000" y="1854200"/>
            <a:ext cx="1905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</a:t>
            </a:r>
            <a:endParaRPr lang="en-US" sz="1100"/>
          </a:p>
        </p:txBody>
      </p:sp>
      <p:cxnSp>
        <p:nvCxnSpPr>
          <p:cNvPr id="10" name="Connector 10"/>
          <p:cNvCxnSpPr/>
          <p:nvPr>
            <p:custDataLst>
              <p:tags r:id="rId6"/>
            </p:custDataLst>
          </p:nvPr>
        </p:nvCxnSpPr>
        <p:spPr>
          <a:xfrm rot="-78117">
            <a:off x="8483672" y="2254250"/>
            <a:ext cx="55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9144000" y="1854200"/>
            <a:ext cx="1905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学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825500" y="3048000"/>
            <a:ext cx="2540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把文物图片变成可以旋转</a:t>
            </a:r>
            <a:r>
              <a:rPr lang="zh-CN" alt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缩放的 3D 模型。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3492500" y="3048000"/>
            <a:ext cx="2540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把不同时期的文物放在一起，直接观察差异。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159500" y="2984500"/>
            <a:ext cx="2540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不懂的地方，直接问 AI。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826500" y="3048000"/>
            <a:ext cx="2540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通过任务和测试，把“看过”变成“学会”。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" y="4521200"/>
            <a:ext cx="1092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四个环节连在一起，就是一次完整的学习过程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3978">
            <a:off x="609604" y="527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" name="AutoShape 18"/>
          <p:cNvSpPr/>
          <p:nvPr/>
        </p:nvSpPr>
        <p:spPr>
          <a:xfrm>
            <a:off x="1905000" y="5537200"/>
            <a:ext cx="838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器见千年 = 3D 文物 + 时间轴 + 对比 + AI 讲解 + 学习任务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第二部分 · 我们具体做什么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一个平台，完成四件事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778000"/>
            <a:ext cx="60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①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20800" y="17780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2D → 3D：照片变模型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20800" y="22860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上传文物图片，生成可旋转、缩放、查看细节的 3D 文物。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778000"/>
            <a:ext cx="60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061200" y="17780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时间轴：看见年代变化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061200" y="2286000"/>
            <a:ext cx="457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拖动时间，查看不同年代文物：唐 → 宋 → 元 → 明 → 清。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3978">
            <a:off x="609604" y="3397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09600" y="3810000"/>
            <a:ext cx="60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20800" y="38100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3D 对比：差异一眼可见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20800" y="43180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选择两件文物并排比较：形状、纹饰、材料、工艺、用途。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810000"/>
            <a:ext cx="60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061200" y="38100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AI 讲解：不懂就问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61200" y="4318000"/>
            <a:ext cx="457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遇到问题直接问 AI，如“为什么宋代的器型发生了变化？”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3978">
            <a:off x="609604" y="5454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9" name="AutoShape 19"/>
          <p:cNvSpPr/>
          <p:nvPr/>
        </p:nvSpPr>
        <p:spPr>
          <a:xfrm>
            <a:off x="1905000" y="5740400"/>
            <a:ext cx="838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四个功能，共同组成一个完整的文物学习过程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第二部分 · 我们具体做什么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功能一：一张照片，把文物“立起来”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651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用户怎么使用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5740" y="2133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上传文物图片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243846">
            <a:off x="588010" y="26734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205740" y="281686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分析图片</a:t>
            </a:r>
            <a:r>
              <a:rPr lang="zh-CN" altLang="en-US" sz="17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并识别</a:t>
            </a:r>
            <a:r>
              <a:rPr lang="zh-CN" altLang="en-US" sz="17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</a:t>
            </a:r>
            <a:endParaRPr lang="zh-CN" altLang="en-US" sz="1700" b="0" i="0" u="none" strike="noStrike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243846">
            <a:off x="613410" y="33846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205740" y="352298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可见结构提取</a:t>
            </a:r>
            <a:endParaRPr lang="en-US" sz="170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5243846">
            <a:off x="588010" y="40958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205740" y="4239895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不可见结构推断</a:t>
            </a:r>
            <a:endParaRPr lang="en-US" sz="170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969000" y="1778000"/>
            <a:ext cx="5715000" cy="285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5969000" y="4851400"/>
            <a:ext cx="561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8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技术路线：图像处理 → AI 三维重建 → 模型优化 → Web 3D 展示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3978">
            <a:off x="609604" y="53784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0" name="AutoShape 20"/>
          <p:cNvSpPr/>
          <p:nvPr/>
        </p:nvSpPr>
        <p:spPr>
          <a:xfrm>
            <a:off x="609600" y="5473700"/>
            <a:ext cx="10972800" cy="9556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400" b="1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</a:t>
            </a:r>
            <a:r>
              <a:rPr lang="zh-CN" altLang="en-US" sz="1200"/>
              <a:t>针对单张图片存在视角缺失的问题，系统结合图像特征分析、相似文物检索和三维生成技术，实现二维文物资料向三维数字对象转换。同时，对生成结果进行区域级可信度评估，区分真实视觉信息与</a:t>
            </a:r>
            <a:r>
              <a:rPr lang="en-US" altLang="zh-CN" sz="1200"/>
              <a:t>AI</a:t>
            </a:r>
            <a:r>
              <a:rPr lang="zh-CN" altLang="en-US" sz="1200"/>
              <a:t>推测区域，提高数字复原结果的可解释性。</a:t>
            </a:r>
            <a:endParaRPr lang="zh-CN" altLang="en-US" sz="1200"/>
          </a:p>
        </p:txBody>
      </p:sp>
      <p:cxnSp>
        <p:nvCxnSpPr>
          <p:cNvPr id="21" name="Connector 21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24" name="Connector 14"/>
          <p:cNvCxnSpPr/>
          <p:nvPr/>
        </p:nvCxnSpPr>
        <p:spPr>
          <a:xfrm rot="5243846">
            <a:off x="3289935" y="275858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10"/>
          <p:cNvSpPr/>
          <p:nvPr/>
        </p:nvSpPr>
        <p:spPr>
          <a:xfrm>
            <a:off x="2896870" y="295275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完整3D重建</a:t>
            </a:r>
            <a:endParaRPr lang="zh-CN" altLang="en-US" sz="1100"/>
          </a:p>
        </p:txBody>
      </p:sp>
      <p:cxnSp>
        <p:nvCxnSpPr>
          <p:cNvPr id="26" name="Connector 14"/>
          <p:cNvCxnSpPr/>
          <p:nvPr/>
        </p:nvCxnSpPr>
        <p:spPr>
          <a:xfrm rot="5243846">
            <a:off x="3289935" y="3448194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7" name="Connector 14"/>
          <p:cNvCxnSpPr/>
          <p:nvPr/>
        </p:nvCxnSpPr>
        <p:spPr>
          <a:xfrm rot="5243846">
            <a:off x="3289935" y="4066049"/>
            <a:ext cx="27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8" name="AutoShape 10"/>
          <p:cNvSpPr/>
          <p:nvPr/>
        </p:nvSpPr>
        <p:spPr>
          <a:xfrm>
            <a:off x="2896870" y="354965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文理</a:t>
            </a:r>
            <a:r>
              <a:rPr lang="en-US" sz="17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补全</a:t>
            </a:r>
            <a:endParaRPr lang="zh-CN" altLang="en-US" sz="1100"/>
          </a:p>
        </p:txBody>
      </p:sp>
      <p:sp>
        <p:nvSpPr>
          <p:cNvPr id="29" name="AutoShape 10"/>
          <p:cNvSpPr/>
          <p:nvPr/>
        </p:nvSpPr>
        <p:spPr>
          <a:xfrm>
            <a:off x="2896870" y="4276725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可旋转</a:t>
            </a:r>
            <a:r>
              <a:rPr lang="en-US" sz="17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的3D文物</a:t>
            </a:r>
            <a:endParaRPr lang="zh-CN" alt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第二部分 · 我们具体做什么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功能二：让“历史变化”真正看得见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7526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拖动时间轴，同一类文物在不同年代的样子随之变化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523">
            <a:off x="1270004" y="23812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193800" y="2311400"/>
            <a:ext cx="152400" cy="1524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606800" y="2311400"/>
            <a:ext cx="152400" cy="1524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019800" y="2311400"/>
            <a:ext cx="152400" cy="1524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432800" y="2311400"/>
            <a:ext cx="152400" cy="1524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845800" y="2311400"/>
            <a:ext cx="152400" cy="1524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" y="2692400"/>
            <a:ext cx="965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225800" y="2692400"/>
            <a:ext cx="965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38800" y="2692400"/>
            <a:ext cx="965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51800" y="2692400"/>
            <a:ext cx="965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明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464800" y="2692400"/>
            <a:ext cx="965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清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" y="35560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时间轴变化时，同时变化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3978">
            <a:off x="609604" y="4133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485900" y="4419600"/>
            <a:ext cx="101600" cy="1016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714500" y="4292600"/>
            <a:ext cx="139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3D 文物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644900" y="4419600"/>
            <a:ext cx="101600" cy="1016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3873500" y="4292600"/>
            <a:ext cx="114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器型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803900" y="4419600"/>
            <a:ext cx="101600" cy="1016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032500" y="4292600"/>
            <a:ext cx="114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纹饰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962900" y="4419600"/>
            <a:ext cx="101600" cy="1016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191500" y="4292600"/>
            <a:ext cx="114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21900" y="4419600"/>
            <a:ext cx="101600" cy="1016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350500" y="4292600"/>
            <a:ext cx="127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历史背景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09600" y="5080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系统构建“文物—年代—器型—纹饰—工艺—历史背景”的关联关系，通过时间轴驱动三维模型和知识信息同步变化，实现从“年代浏览”到“演化分析”的转变</a:t>
            </a:r>
            <a:r>
              <a:rPr lang="zh-CN" altLang="en-US" sz="1100"/>
              <a:t>。</a:t>
            </a:r>
            <a:endParaRPr lang="zh-CN" altLang="en-US" sz="1100"/>
          </a:p>
        </p:txBody>
      </p:sp>
      <p:cxnSp>
        <p:nvCxnSpPr>
          <p:cNvPr id="30" name="Connector 30"/>
          <p:cNvCxnSpPr/>
          <p:nvPr/>
        </p:nvCxnSpPr>
        <p:spPr>
          <a:xfrm rot="-3978">
            <a:off x="609604" y="573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1" name="AutoShape 31"/>
          <p:cNvSpPr/>
          <p:nvPr/>
        </p:nvSpPr>
        <p:spPr>
          <a:xfrm>
            <a:off x="1905000" y="5969000"/>
            <a:ext cx="838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我们不是简单切换年份，而是把“年代”和“文物变化”联系起来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第二部分 · 我们具体做什么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功能三：</a:t>
            </a:r>
            <a:r>
              <a:rPr lang="zh-CN" alt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跨时期文物三维语义对比分析</a:t>
            </a: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，差异一眼就能看到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219200" y="31750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唐代文物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398000" y="31750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宋代文物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48000" y="1727200"/>
            <a:ext cx="6096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054725" y="5034915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同步旋转 · 同步缩放 · 尺寸统一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6810" y="5489575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我们比较什么：形状 · 纹饰 · 工艺 · 用途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3978">
            <a:off x="609604" y="6038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1010920" y="6102350"/>
            <a:ext cx="9250680" cy="527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AI分析内容：器型变化</a:t>
            </a:r>
            <a:r>
              <a:rPr lang="en-US" altLang="zh-CN" sz="28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      </a:t>
            </a:r>
            <a:r>
              <a:rPr lang="zh-CN" altLang="en-US" sz="28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例如：瓶颈比例变化纹饰变化</a:t>
            </a:r>
            <a:endParaRPr lang="zh-CN" altLang="en-US" sz="2800" b="1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endParaRPr lang="zh-CN" altLang="en-US" sz="1100"/>
          </a:p>
        </p:txBody>
      </p:sp>
      <p:cxnSp>
        <p:nvCxnSpPr>
          <p:cNvPr id="12" name="Connector 12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15" name="文本框 14"/>
          <p:cNvSpPr txBox="1"/>
          <p:nvPr/>
        </p:nvSpPr>
        <p:spPr>
          <a:xfrm>
            <a:off x="487680" y="5290820"/>
            <a:ext cx="59048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1600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文物A模型  -&gt; 结构识别  -&gt; 关键点匹配  -&gt; 文物B模型  -&gt;差异分析</a:t>
            </a:r>
            <a:endParaRPr lang="zh-CN" alt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第二部分 · 我们具体做什么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功能四：</a:t>
            </a:r>
            <a:r>
              <a:rPr lang="en-US" sz="28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基于三维语义理解的智能文物讲解</a:t>
            </a:r>
            <a:endParaRPr lang="en-US" sz="2800" b="1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04000" y="1727200"/>
            <a:ext cx="4978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AI 怎么回答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184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995160" y="2184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用户点击：瓶颈</a:t>
            </a:r>
            <a:endParaRPr lang="en-US" sz="150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114181">
            <a:off x="6630035" y="26355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/>
          <p:nvPr/>
        </p:nvSpPr>
        <p:spPr>
          <a:xfrm>
            <a:off x="6604000" y="27432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95160" y="2730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114181">
            <a:off x="6630035" y="3194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/>
        </p:nvSpPr>
        <p:spPr>
          <a:xfrm>
            <a:off x="6604000" y="33020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95160" y="3302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检索相关内容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114181">
            <a:off x="6655435" y="37531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4" name="AutoShape 24"/>
          <p:cNvSpPr/>
          <p:nvPr/>
        </p:nvSpPr>
        <p:spPr>
          <a:xfrm>
            <a:off x="6604000" y="38608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34200" y="385445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这里是束颈结构，宋代相比唐代更加细长，体现当时审美变化。</a:t>
            </a:r>
            <a:endParaRPr lang="zh-CN" altLang="en-US" sz="1100"/>
          </a:p>
        </p:txBody>
      </p:sp>
      <p:cxnSp>
        <p:nvCxnSpPr>
          <p:cNvPr id="26" name="Connector 26"/>
          <p:cNvCxnSpPr/>
          <p:nvPr/>
        </p:nvCxnSpPr>
        <p:spPr>
          <a:xfrm rot="-8769">
            <a:off x="6604008" y="47434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7" name="AutoShape 27"/>
          <p:cNvSpPr/>
          <p:nvPr/>
        </p:nvSpPr>
        <p:spPr>
          <a:xfrm>
            <a:off x="6604000" y="4978400"/>
            <a:ext cx="4978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核心原则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04000" y="5384800"/>
            <a:ext cx="4978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AI 负责解释，资料负责提供依据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860" y="1727200"/>
            <a:ext cx="5490845" cy="4100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第三部分 · 我们的特色在哪里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我们真正创新的地方是什么？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09600" y="1727200"/>
            <a:ext cx="55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①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270000" y="1727200"/>
            <a:ext cx="10160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</a:t>
            </a:r>
            <a:r>
              <a:rPr 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AI三维重建的可信化。不是只生成3D模型，而是增加</a:t>
            </a:r>
            <a:endParaRPr lang="en-US" sz="1700" b="1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区域级可信度评估和不确定性可视化。解决：“AI生成了什么”和“哪些部分可信”之间的区别。</a:t>
            </a:r>
            <a:endParaRPr lang="en-US" sz="1700" b="1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556895" y="3178175"/>
            <a:ext cx="55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②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270000" y="2975610"/>
            <a:ext cx="10160000" cy="745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buNone/>
              <a:defRPr/>
            </a:pPr>
            <a:r>
              <a:rPr lang="zh-CN" alt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从</a:t>
            </a:r>
            <a:r>
              <a:rPr lang="en-US" altLang="zh-CN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“</a:t>
            </a:r>
            <a:r>
              <a:rPr lang="zh-CN" alt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年代浏览</a:t>
            </a:r>
            <a:r>
              <a:rPr lang="en-US" altLang="zh-CN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”</a:t>
            </a:r>
            <a:r>
              <a:rPr lang="zh-CN" alt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走向</a:t>
            </a:r>
            <a:r>
              <a:rPr lang="en-US" altLang="zh-CN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“</a:t>
            </a:r>
            <a:r>
              <a:rPr lang="zh-CN" alt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文物演化分析</a:t>
            </a:r>
            <a:r>
              <a:rPr lang="en-US" altLang="zh-CN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”</a:t>
            </a:r>
            <a:endParaRPr lang="en-US" altLang="zh-CN" sz="1700" b="1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marL="0" algn="l">
              <a:lnSpc>
                <a:spcPct val="125000"/>
              </a:lnSpc>
              <a:buSzTx/>
              <a:buNone/>
              <a:defRPr/>
            </a:pPr>
            <a:r>
              <a:rPr 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通过时间、知识和三维模型结合，让用户真正看到：跨时期文物发生了什么变化。</a:t>
            </a:r>
            <a:endParaRPr lang="en-US" sz="1700" b="1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556895" y="4629150"/>
            <a:ext cx="55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③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1270000" y="4255770"/>
            <a:ext cx="10160000" cy="1430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从普通AI问答走向三维场景感知。</a:t>
            </a:r>
            <a:endParaRPr lang="en-US" sz="1700" b="1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将：三维空间、文物语义、知识库和大语言模型结合起来</a:t>
            </a:r>
            <a:r>
              <a:rPr lang="zh-CN" alt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，</a:t>
            </a:r>
            <a:r>
              <a:rPr lang="en-US" sz="1700" b="1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让 AI 理解用户正在观察的具体文物区域。</a:t>
            </a:r>
            <a:endParaRPr lang="en-US" sz="1700" b="1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700" b="1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3978">
            <a:off x="609604" y="5962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09600" y="6146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3D展示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9107">
            <a:off x="2006645" y="63309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2997200" y="6146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时间演化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9107">
            <a:off x="4394245" y="63309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/>
        </p:nvSpPr>
        <p:spPr>
          <a:xfrm>
            <a:off x="5384800" y="6146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对比分析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9107">
            <a:off x="6781845" y="63309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7772400" y="6146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AI讲解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49107">
            <a:off x="9169445" y="63309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25"/>
          <p:cNvSpPr/>
          <p:nvPr/>
        </p:nvSpPr>
        <p:spPr>
          <a:xfrm>
            <a:off x="10160000" y="61468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学习任务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第四部分 · 技术怎么实现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用户看到的是一个页面，背后是四层系统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727200"/>
            <a:ext cx="109728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1727200"/>
            <a:ext cx="76200" cy="889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14400" y="18796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第一层 · 用户端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2860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React + Three.js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73600" y="1955800"/>
            <a:ext cx="665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负责：页面、3D 模型、时间轴、对比交互、学习任务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154862">
            <a:off x="6007100" y="27243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609600" y="2844800"/>
            <a:ext cx="109728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09600" y="2844800"/>
            <a:ext cx="76200" cy="889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14400" y="29972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第二层 · 业务服务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14400" y="34036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+ FastAPI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73600" y="3073400"/>
            <a:ext cx="665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负责：用户、文物、学习记录、模型管理、AI 请求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154862">
            <a:off x="6007100" y="38419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609600" y="3962400"/>
            <a:ext cx="109728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09600" y="3962400"/>
            <a:ext cx="76200" cy="889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14400" y="41148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第三层 · AI 能力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" y="45212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三维重建模型 + RAG + LLM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673600" y="4191000"/>
            <a:ext cx="665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负责：图片 → 3D、文物知识检索、AI 问答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154862">
            <a:off x="6007100" y="49595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7C2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609600" y="5080000"/>
            <a:ext cx="109728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09600" y="5080000"/>
            <a:ext cx="76200" cy="889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14400" y="52324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第四层 · 数据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4400" y="56388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文物数据库 + 向量数据库 + 知识关系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73600" y="5283200"/>
            <a:ext cx="6654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存储：文物信息、历史时期、形制特征、图片、3D 模型、参考资料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3978">
            <a:off x="609604" y="6343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" name="AutoShape 29"/>
          <p:cNvSpPr/>
          <p:nvPr/>
        </p:nvSpPr>
        <p:spPr>
          <a:xfrm>
            <a:off x="1905000" y="6527800"/>
            <a:ext cx="838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四层各司其职，共同支撑“看 · 比 · 问 · 学”的完整体验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第四部分 · 技术怎么实现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真正难的地方：我们怎么解决？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1778000"/>
            <a:ext cx="127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难点 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" y="2108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一张照片生成的 3D 模型可能不准确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969000" y="1778000"/>
            <a:ext cx="127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我们的做法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969000" y="2133600"/>
            <a:ext cx="56134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图像预处理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en-US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器型与结构特征提取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en-US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相似文物检索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en-US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对称性与结构先验约束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en-US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→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AI </a:t>
            </a:r>
            <a:r>
              <a:rPr lang="zh-CN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三维重建与不可见区域补全，并对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AI </a:t>
            </a:r>
            <a:r>
              <a:rPr lang="zh-CN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推测区域进行标记，重要文物可结合多视角或权威</a:t>
            </a:r>
            <a:r>
              <a:rPr lang="en-US" altLang="zh-CN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3D </a:t>
            </a:r>
            <a:r>
              <a:rPr lang="zh-CN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数据校验。</a:t>
            </a:r>
            <a:endParaRPr lang="zh-CN" altLang="en-US" sz="150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3978">
            <a:off x="609604" y="3041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09600" y="3251200"/>
            <a:ext cx="127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难点 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3581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AI 讲文物，不能“胡说”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969000" y="3251200"/>
            <a:ext cx="127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我们的做法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3606800"/>
            <a:ext cx="5613400" cy="7785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建立结构化文物知识库，将“文物—年代—器型—纹饰—工艺—历史背景”建立关联。通过 RAG 检索相关资料，再由 AI 组织答案，同时展示回答依据与资料来源。</a:t>
            </a:r>
            <a:endParaRPr lang="zh-CN" altLang="en-US" sz="150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3978">
            <a:off x="609604" y="4514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09600" y="4724400"/>
            <a:ext cx="127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难点 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" y="5054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不同年代的文物，不好直接比较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969000" y="4724400"/>
            <a:ext cx="127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我们的做法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969000" y="5080000"/>
            <a:ext cx="5613400" cy="762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对不同三维模型进行尺寸归一与姿态对齐，建立器口、器颈、器腹、器足等关键结构的对应关系，并结合特征区域标记与同步交互，进一步展示形制、纹饰等变化。</a:t>
            </a:r>
            <a:endParaRPr lang="zh-CN" altLang="en-US" sz="1100"/>
          </a:p>
        </p:txBody>
      </p:sp>
      <p:cxnSp>
        <p:nvCxnSpPr>
          <p:cNvPr id="19" name="Connector 19"/>
          <p:cNvCxnSpPr/>
          <p:nvPr/>
        </p:nvCxnSpPr>
        <p:spPr>
          <a:xfrm rot="-3978">
            <a:off x="609604" y="60642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0" name="AutoShape 20"/>
          <p:cNvSpPr/>
          <p:nvPr/>
        </p:nvSpPr>
        <p:spPr>
          <a:xfrm>
            <a:off x="1905000" y="6223000"/>
            <a:ext cx="838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真正的技术难点，是把“AI、3D、历史知识和交互”连接起来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第五部分 · 最后能做到什么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预期成果：最终交付的不只是一个 Demo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5389121">
            <a:off x="2336800" y="3676660"/>
            <a:ext cx="401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5389121">
            <a:off x="6070600" y="3676660"/>
            <a:ext cx="401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" y="17780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产品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" y="2184400"/>
            <a:ext cx="355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一个可以实际使用的文物三维学习平台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2997200"/>
            <a:ext cx="355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包含：文物浏览、3D 重建、时间轴、3D 对比、AI 讲解、学习任务。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19600" y="17780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19600" y="2184400"/>
            <a:ext cx="355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建立一批结构化文物学习数据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19600" y="31496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包括：文物、年代、特征、3D 模型、历史资料。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29600" y="17780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A07C2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学习效果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29600" y="21844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用户最终可以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29600" y="27432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29600" y="31242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29600" y="33782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29600" y="37592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29600" y="40132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比较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29600" y="43942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29600" y="46482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29600" y="50292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29600" y="52832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 → 完成任务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3978">
            <a:off x="609604" y="5861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5" name="AutoShape 25"/>
          <p:cNvSpPr/>
          <p:nvPr/>
        </p:nvSpPr>
        <p:spPr>
          <a:xfrm>
            <a:off x="1524000" y="6045200"/>
            <a:ext cx="914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让文物不再只是“被展示的东西”，而成为“可以被探索和理解的知识”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4318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7C2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第五部分 · 最后能做到什么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2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项目实施与分工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416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09600" y="1727200"/>
          <a:ext cx="4826000" cy="347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200400"/>
                <a:gridCol w="1625600"/>
              </a:tblGrid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负责人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前端与 3D 交互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赵佳政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三维重建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1F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管锦泽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1F3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文物知识库 / RAG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张展华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后端与数据库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1F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张汇智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1F3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产品 / UI / PPT / 测试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>
                          <a:solidFill>
                            <a:srgbClr val="0D1B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管锦泽</a:t>
                      </a:r>
                      <a:endParaRPr lang="zh-CN" alt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096000" y="17272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实施阶段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46800" y="2260600"/>
            <a:ext cx="127000" cy="1270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502400" y="21590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1 阶段 · 基础平台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46800" y="2946400"/>
            <a:ext cx="127000" cy="1270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502400" y="28448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 阶段 · 3D 重建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146800" y="3632200"/>
            <a:ext cx="127000" cy="1270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02400" y="35306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3 阶段 · 时间轴 + 对比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46800" y="4318000"/>
            <a:ext cx="127000" cy="1270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02400" y="42164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4 阶段 · AI + 学习系统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46800" y="5003800"/>
            <a:ext cx="127000" cy="127000"/>
          </a:xfrm>
          <a:prstGeom prst="ellipse">
            <a:avLst/>
          </a:prstGeom>
          <a:solidFill>
            <a:srgbClr val="A07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02400" y="49022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5 阶段 · 测试 + 优化 + 答辩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3978">
            <a:off x="609604" y="573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" name="AutoShape 18"/>
          <p:cNvSpPr/>
          <p:nvPr/>
        </p:nvSpPr>
        <p:spPr>
          <a:xfrm>
            <a:off x="1905000" y="5943600"/>
            <a:ext cx="838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64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五个阶段依次推进，每个阶段都有可演示的成果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3978">
            <a:off x="609604" y="6546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09600" y="6629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器见千年 · 创新实践项目答辩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074400" y="66294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94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86000" y="1397000"/>
            <a:ext cx="7620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器见千年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40000" y="2997200"/>
            <a:ext cx="711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一张照片，重现一件文物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540000" y="3556000"/>
            <a:ext cx="711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一条时间轴，看见千年变化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1485">
            <a:off x="5080020" y="43878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4191000" y="47752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看 · 比 · 问 · 学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6,&quot;left&quot;:48,&quot;top&quot;:138,&quot;width&quot;:870}"/>
</p:tagLst>
</file>

<file path=ppt/tags/tag2.xml><?xml version="1.0" encoding="utf-8"?>
<p:tagLst xmlns:p="http://schemas.openxmlformats.org/presentationml/2006/main">
  <p:tag name="KSO_WM_DIAGRAM_VIRTUALLY_FRAME" val="{&quot;height&quot;:276,&quot;left&quot;:48,&quot;top&quot;:138,&quot;width&quot;:870}"/>
</p:tagLst>
</file>

<file path=ppt/tags/tag3.xml><?xml version="1.0" encoding="utf-8"?>
<p:tagLst xmlns:p="http://schemas.openxmlformats.org/presentationml/2006/main">
  <p:tag name="KSO_WM_DIAGRAM_VIRTUALLY_FRAME" val="{&quot;height&quot;:276,&quot;left&quot;:48,&quot;top&quot;:138,&quot;width&quot;:870}"/>
</p:tagLst>
</file>

<file path=ppt/tags/tag4.xml><?xml version="1.0" encoding="utf-8"?>
<p:tagLst xmlns:p="http://schemas.openxmlformats.org/presentationml/2006/main">
  <p:tag name="KSO_WM_DIAGRAM_VIRTUALLY_FRAME" val="{&quot;height&quot;:276,&quot;left&quot;:48,&quot;top&quot;:138,&quot;width&quot;:870}"/>
</p:tagLst>
</file>

<file path=ppt/tags/tag5.xml><?xml version="1.0" encoding="utf-8"?>
<p:tagLst xmlns:p="http://schemas.openxmlformats.org/presentationml/2006/main">
  <p:tag name="KSO_WM_DIAGRAM_VIRTUALLY_FRAME" val="{&quot;height&quot;:276,&quot;left&quot;:48,&quot;top&quot;:138,&quot;width&quot;:870}"/>
</p:tagLst>
</file>

<file path=ppt/tags/tag6.xml><?xml version="1.0" encoding="utf-8"?>
<p:tagLst xmlns:p="http://schemas.openxmlformats.org/presentationml/2006/main">
  <p:tag name="KSO_WM_DIAGRAM_VIRTUALLY_FRAME" val="{&quot;height&quot;:276,&quot;left&quot;:48,&quot;top&quot;:138,&quot;width&quot;:870}"/>
</p:tagLst>
</file>

<file path=ppt/tags/tag7.xml><?xml version="1.0" encoding="utf-8"?>
<p:tagLst xmlns:p="http://schemas.openxmlformats.org/presentationml/2006/main">
  <p:tag name="KSO_WM_DIAGRAM_VIRTUALLY_FRAME" val="{&quot;height&quot;:276,&quot;left&quot;:48,&quot;top&quot;:138,&quot;width&quot;:870}"/>
</p:tagLst>
</file>

<file path=ppt/tags/tag8.xml><?xml version="1.0" encoding="utf-8"?>
<p:tagLst xmlns:p="http://schemas.openxmlformats.org/presentationml/2006/main">
  <p:tag name="KSO_WM_DIAGRAM_VIRTUALLY_FRAME" val="{&quot;height&quot;:276,&quot;left&quot;:48,&quot;top&quot;:138,&quot;width&quot;:870}"/>
</p:tagLst>
</file>

<file path=ppt/tags/tag9.xml><?xml version="1.0" encoding="utf-8"?>
<p:tagLst xmlns:p="http://schemas.openxmlformats.org/presentationml/2006/main">
  <p:tag name="KSO_WM_DIAGRAM_VIRTUALLY_FRAME" val="{&quot;height&quot;:276,&quot;left&quot;:48,&quot;top&quot;:138,&quot;width&quot;:870}"/>
</p:tagLst>
</file>

<file path=ppt/tags/tag10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11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12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13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14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15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16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17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18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19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20.xml><?xml version="1.0" encoding="utf-8"?>
<p:tagLst xmlns:p="http://schemas.openxmlformats.org/presentationml/2006/main">
  <p:tag name="KSO_WM_DIAGRAM_VIRTUALLY_FRAME" val="{&quot;height&quot;:190,&quot;left&quot;:65,&quot;top&quot;:146,&quot;width&quot;:830}"/>
</p:tagLst>
</file>

<file path=ppt/tags/tag21.xml><?xml version="1.0" encoding="utf-8"?>
<p:tagLst xmlns:p="http://schemas.openxmlformats.org/presentationml/2006/main">
  <p:tag name="KSO_WM_DIAGRAM_VIRTUALLY_FRAME" val="{&quot;height&quot;:311.7,&quot;left&quot;:43.85,&quot;top&quot;:136,&quot;width&quot;:856.15}"/>
</p:tagLst>
</file>

<file path=ppt/tags/tag22.xml><?xml version="1.0" encoding="utf-8"?>
<p:tagLst xmlns:p="http://schemas.openxmlformats.org/presentationml/2006/main">
  <p:tag name="KSO_WM_DIAGRAM_VIRTUALLY_FRAME" val="{&quot;height&quot;:311.7,&quot;left&quot;:43.85,&quot;top&quot;:136,&quot;width&quot;:856.15}"/>
</p:tagLst>
</file>

<file path=ppt/tags/tag23.xml><?xml version="1.0" encoding="utf-8"?>
<p:tagLst xmlns:p="http://schemas.openxmlformats.org/presentationml/2006/main">
  <p:tag name="KSO_WM_DIAGRAM_VIRTUALLY_FRAME" val="{&quot;height&quot;:311.7,&quot;left&quot;:43.85,&quot;top&quot;:136,&quot;width&quot;:856.15}"/>
</p:tagLst>
</file>

<file path=ppt/tags/tag24.xml><?xml version="1.0" encoding="utf-8"?>
<p:tagLst xmlns:p="http://schemas.openxmlformats.org/presentationml/2006/main">
  <p:tag name="KSO_WM_DIAGRAM_VIRTUALLY_FRAME" val="{&quot;height&quot;:311.7,&quot;left&quot;:43.85,&quot;top&quot;:136,&quot;width&quot;:856.15}"/>
</p:tagLst>
</file>

<file path=ppt/tags/tag25.xml><?xml version="1.0" encoding="utf-8"?>
<p:tagLst xmlns:p="http://schemas.openxmlformats.org/presentationml/2006/main">
  <p:tag name="KSO_WM_DIAGRAM_VIRTUALLY_FRAME" val="{&quot;height&quot;:311.7,&quot;left&quot;:43.85,&quot;top&quot;:136,&quot;width&quot;:856.15}"/>
</p:tagLst>
</file>

<file path=ppt/tags/tag26.xml><?xml version="1.0" encoding="utf-8"?>
<p:tagLst xmlns:p="http://schemas.openxmlformats.org/presentationml/2006/main">
  <p:tag name="KSO_WM_DIAGRAM_VIRTUALLY_FRAME" val="{&quot;height&quot;:311.7,&quot;left&quot;:43.85,&quot;top&quot;:136,&quot;width&quot;:856.1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2832</Words>
  <Application>WPS 演示</Application>
  <PresentationFormat/>
  <Paragraphs>409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Noto Serif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管锦泽</cp:lastModifiedBy>
  <cp:revision>9</cp:revision>
  <dcterms:created xsi:type="dcterms:W3CDTF">2026-09-23T05:49:00Z</dcterms:created>
  <dcterms:modified xsi:type="dcterms:W3CDTF">2026-09-28T12:43:39Z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{"Label":"1","ContentProducer":"001191110102MACQD9K64010000","ProduceID":"7688318366113467341","ReservedCode1":"","ContentPropagator":"","PropagateID":"","ReservedCode2":""}</vt:lpwstr>
  </property>
  <property fmtid="{D5CDD505-2E9C-101B-9397-08002B2CF9AE}" pid="3" name="ICV">
    <vt:lpwstr>E69CEDC638574CE7A388C03E3C32B058_12</vt:lpwstr>
  </property>
  <property fmtid="{D5CDD505-2E9C-101B-9397-08002B2CF9AE}" pid="4" name="KSOProductBuildVer">
    <vt:lpwstr>2052-12.1.0.23542</vt:lpwstr>
  </property>
</Properties>
</file>